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8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hJJ6G0iUcrv55uf0b92skt6Wgx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337187" y="160103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Convolutional Neural Network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36B56A-6F1F-CE9C-D927-910577A3F01D}"/>
              </a:ext>
            </a:extLst>
          </p:cNvPr>
          <p:cNvSpPr txBox="1"/>
          <p:nvPr/>
        </p:nvSpPr>
        <p:spPr>
          <a:xfrm>
            <a:off x="471948" y="4316361"/>
            <a:ext cx="40312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1.Height</a:t>
            </a:r>
          </a:p>
          <a:p>
            <a:r>
              <a:rPr lang="en-US" dirty="0"/>
              <a:t>2.Facial features</a:t>
            </a:r>
          </a:p>
          <a:p>
            <a:r>
              <a:rPr lang="en-US" dirty="0"/>
              <a:t>3. Body textures</a:t>
            </a:r>
          </a:p>
          <a:p>
            <a:r>
              <a:rPr lang="en-US" dirty="0"/>
              <a:t>4. Voice</a:t>
            </a:r>
          </a:p>
          <a:p>
            <a:r>
              <a:rPr lang="en-US" dirty="0"/>
              <a:t>5. Color</a:t>
            </a:r>
          </a:p>
          <a:p>
            <a:r>
              <a:rPr lang="en-US" dirty="0"/>
              <a:t>6. </a:t>
            </a:r>
            <a:r>
              <a:rPr lang="en-US" dirty="0" err="1"/>
              <a:t>Shaps</a:t>
            </a:r>
            <a:endParaRPr lang="en-US" dirty="0"/>
          </a:p>
          <a:p>
            <a:r>
              <a:rPr lang="en-US" dirty="0"/>
              <a:t>7. Behaviors</a:t>
            </a:r>
          </a:p>
          <a:p>
            <a:r>
              <a:rPr lang="en-US" dirty="0"/>
              <a:t>8. Edges</a:t>
            </a:r>
            <a:endParaRPr lang="en-IN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F277F1-2FF7-F800-BC8A-03E6607B3C76}"/>
              </a:ext>
            </a:extLst>
          </p:cNvPr>
          <p:cNvSpPr txBox="1"/>
          <p:nvPr/>
        </p:nvSpPr>
        <p:spPr>
          <a:xfrm>
            <a:off x="4798142" y="4896465"/>
            <a:ext cx="18165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Yann LeCun in 1988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>
            <a:spLocks noGrp="1"/>
          </p:cNvSpPr>
          <p:nvPr>
            <p:ph type="title"/>
          </p:nvPr>
        </p:nvSpPr>
        <p:spPr>
          <a:xfrm>
            <a:off x="398106" y="1119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 to CNN</a:t>
            </a:r>
            <a:endParaRPr/>
          </a:p>
        </p:txBody>
      </p:sp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1" y="2058757"/>
            <a:ext cx="8913882" cy="3535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>
            <a:spLocks noGrp="1"/>
          </p:cNvSpPr>
          <p:nvPr>
            <p:ph type="title"/>
          </p:nvPr>
        </p:nvSpPr>
        <p:spPr>
          <a:xfrm>
            <a:off x="398106" y="1119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Convolutional Neural Network?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482859" y="1437531"/>
            <a:ext cx="1069521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convolutional neural network is a feed-forward neural network that is generally used to analyze visual images by processing data with grid-like topology. It’s also known as a ConvNet. A convolutional neural network is used to detect and classify objects in an image.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Below is a neural network that identifies two types of flowers: Orchid and Rose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6197" y="3017496"/>
            <a:ext cx="5270873" cy="154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 txBox="1"/>
          <p:nvPr/>
        </p:nvSpPr>
        <p:spPr>
          <a:xfrm>
            <a:off x="576165" y="4665307"/>
            <a:ext cx="8241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CNN, every image is represented in the form of an array of pixel values.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02025" y="5250931"/>
            <a:ext cx="5141847" cy="149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>
            <a:spLocks noGrp="1"/>
          </p:cNvSpPr>
          <p:nvPr>
            <p:ph type="title"/>
          </p:nvPr>
        </p:nvSpPr>
        <p:spPr>
          <a:xfrm>
            <a:off x="398106" y="1119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Layers in a Convolutional Neural Network</a:t>
            </a:r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482859" y="1437531"/>
            <a:ext cx="10695213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convolution neural network has multiple hidden layers that help in extracting information from an image. The four important layers in CNN are: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Convolution layer 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ReLU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layer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Pooling layer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Fully connected layer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F20626-9AC2-2F6C-27E6-5B325813607D}"/>
              </a:ext>
            </a:extLst>
          </p:cNvPr>
          <p:cNvSpPr txBox="1"/>
          <p:nvPr/>
        </p:nvSpPr>
        <p:spPr>
          <a:xfrm>
            <a:off x="4552335" y="3429000"/>
            <a:ext cx="2949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224*224*3 = 150528 input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A97AAC-A503-526B-7281-BD1C0267BE98}"/>
              </a:ext>
            </a:extLst>
          </p:cNvPr>
          <p:cNvSpPr txBox="1"/>
          <p:nvPr/>
        </p:nvSpPr>
        <p:spPr>
          <a:xfrm>
            <a:off x="2989006" y="4807974"/>
            <a:ext cx="15600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Problems in ANN</a:t>
            </a:r>
          </a:p>
          <a:p>
            <a:pPr marL="342900" indent="-342900">
              <a:buAutoNum type="arabicPeriod"/>
            </a:pPr>
            <a:r>
              <a:rPr lang="en-US" dirty="0"/>
              <a:t>Overfitting</a:t>
            </a:r>
          </a:p>
          <a:p>
            <a:pPr marL="342900" indent="-342900">
              <a:buAutoNum type="arabicPeriod"/>
            </a:pPr>
            <a:r>
              <a:rPr lang="en-US" dirty="0"/>
              <a:t>Slow </a:t>
            </a:r>
            <a:r>
              <a:rPr lang="en-US" dirty="0" err="1"/>
              <a:t>traning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Accuracy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0B2858-F57C-817C-F8EE-496602900A95}"/>
              </a:ext>
            </a:extLst>
          </p:cNvPr>
          <p:cNvSpPr txBox="1"/>
          <p:nvPr/>
        </p:nvSpPr>
        <p:spPr>
          <a:xfrm>
            <a:off x="5525729" y="4975123"/>
            <a:ext cx="1715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 sharing</a:t>
            </a:r>
          </a:p>
          <a:p>
            <a:r>
              <a:rPr lang="en-US" dirty="0"/>
              <a:t>Features extracting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B842BC-35D4-F213-CC4F-9EE7BE8F5B11}"/>
              </a:ext>
            </a:extLst>
          </p:cNvPr>
          <p:cNvSpPr txBox="1"/>
          <p:nvPr/>
        </p:nvSpPr>
        <p:spPr>
          <a:xfrm>
            <a:off x="235974" y="4198374"/>
            <a:ext cx="9242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1 1 1 0 0</a:t>
            </a:r>
          </a:p>
          <a:p>
            <a:r>
              <a:rPr lang="en-US" dirty="0"/>
              <a:t>0 1 1 1 0</a:t>
            </a:r>
          </a:p>
          <a:p>
            <a:r>
              <a:rPr lang="en-US" dirty="0"/>
              <a:t>0 0 1 1 1</a:t>
            </a:r>
          </a:p>
          <a:p>
            <a:r>
              <a:rPr lang="en-US" dirty="0"/>
              <a:t>1 0 0 1 0</a:t>
            </a:r>
          </a:p>
          <a:p>
            <a:r>
              <a:rPr lang="en-US" dirty="0"/>
              <a:t>1 1 0 0 1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F5AC80-363A-45B4-6D5D-315485E8C034}"/>
              </a:ext>
            </a:extLst>
          </p:cNvPr>
          <p:cNvSpPr txBox="1"/>
          <p:nvPr/>
        </p:nvSpPr>
        <p:spPr>
          <a:xfrm>
            <a:off x="1337188" y="4226627"/>
            <a:ext cx="6751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1 0 1</a:t>
            </a:r>
          </a:p>
          <a:p>
            <a:r>
              <a:rPr lang="en-US" dirty="0"/>
              <a:t>0 1 0</a:t>
            </a:r>
          </a:p>
          <a:p>
            <a:r>
              <a:rPr lang="en-US" dirty="0"/>
              <a:t>1 0 1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398106" y="1119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Convolution Layer</a:t>
            </a:r>
            <a:endParaRPr/>
          </a:p>
        </p:txBody>
      </p:sp>
      <p:sp>
        <p:nvSpPr>
          <p:cNvPr id="117" name="Google Shape;117;p6"/>
          <p:cNvSpPr txBox="1"/>
          <p:nvPr/>
        </p:nvSpPr>
        <p:spPr>
          <a:xfrm>
            <a:off x="482850" y="1437525"/>
            <a:ext cx="106953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first step in the process of extracting valuable features from an image. A convolution layer has several filters that perform the convolution operation. Every image is considered as a matrix of pixel values.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following 5x5 image whose pixel values are either 0 or 1. There’s also a filter matrix with a dimension of 3x3. Slide the filter matrix over the image and compute the dot product to get the convolved feature matrix.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2068" y="3366450"/>
            <a:ext cx="4676775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/>
          <p:nvPr/>
        </p:nvSpPr>
        <p:spPr>
          <a:xfrm>
            <a:off x="7528663" y="3670653"/>
            <a:ext cx="641675" cy="495275"/>
          </a:xfrm>
          <a:custGeom>
            <a:avLst/>
            <a:gdLst/>
            <a:ahLst/>
            <a:cxnLst/>
            <a:rect l="l" t="t" r="r" b="b"/>
            <a:pathLst>
              <a:path w="25667" h="19811" extrusionOk="0">
                <a:moveTo>
                  <a:pt x="1800" y="17988"/>
                </a:moveTo>
                <a:cubicBezTo>
                  <a:pt x="1800" y="20280"/>
                  <a:pt x="6178" y="19656"/>
                  <a:pt x="8470" y="19656"/>
                </a:cubicBezTo>
                <a:cubicBezTo>
                  <a:pt x="14814" y="19656"/>
                  <a:pt x="22312" y="16160"/>
                  <a:pt x="25146" y="10484"/>
                </a:cubicBezTo>
                <a:cubicBezTo>
                  <a:pt x="26812" y="7148"/>
                  <a:pt x="23480" y="2145"/>
                  <a:pt x="20144" y="479"/>
                </a:cubicBezTo>
                <a:cubicBezTo>
                  <a:pt x="16999" y="-1092"/>
                  <a:pt x="13283" y="2242"/>
                  <a:pt x="10138" y="3814"/>
                </a:cubicBezTo>
                <a:cubicBezTo>
                  <a:pt x="7392" y="5187"/>
                  <a:pt x="3137" y="809"/>
                  <a:pt x="966" y="2980"/>
                </a:cubicBezTo>
                <a:cubicBezTo>
                  <a:pt x="-1656" y="5602"/>
                  <a:pt x="1809" y="10503"/>
                  <a:pt x="3468" y="13819"/>
                </a:cubicBezTo>
                <a:cubicBezTo>
                  <a:pt x="4193" y="15268"/>
                  <a:pt x="4348" y="17988"/>
                  <a:pt x="5969" y="17988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0" name="Google Shape;120;p6"/>
          <p:cNvSpPr/>
          <p:nvPr/>
        </p:nvSpPr>
        <p:spPr>
          <a:xfrm>
            <a:off x="4943745" y="3307400"/>
            <a:ext cx="854175" cy="686975"/>
          </a:xfrm>
          <a:custGeom>
            <a:avLst/>
            <a:gdLst/>
            <a:ahLst/>
            <a:cxnLst/>
            <a:rect l="l" t="t" r="r" b="b"/>
            <a:pathLst>
              <a:path w="34167" h="27479" extrusionOk="0">
                <a:moveTo>
                  <a:pt x="1806" y="0"/>
                </a:moveTo>
                <a:cubicBezTo>
                  <a:pt x="1806" y="8616"/>
                  <a:pt x="-2047" y="18142"/>
                  <a:pt x="1806" y="25848"/>
                </a:cubicBezTo>
                <a:cubicBezTo>
                  <a:pt x="3546" y="29328"/>
                  <a:pt x="9588" y="25848"/>
                  <a:pt x="13479" y="25848"/>
                </a:cubicBezTo>
                <a:cubicBezTo>
                  <a:pt x="19045" y="25848"/>
                  <a:pt x="26220" y="28949"/>
                  <a:pt x="30155" y="25014"/>
                </a:cubicBezTo>
                <a:cubicBezTo>
                  <a:pt x="32326" y="22843"/>
                  <a:pt x="28818" y="18013"/>
                  <a:pt x="30989" y="15842"/>
                </a:cubicBezTo>
                <a:cubicBezTo>
                  <a:pt x="34532" y="12299"/>
                  <a:pt x="35366" y="4377"/>
                  <a:pt x="31823" y="834"/>
                </a:cubicBezTo>
                <a:cubicBezTo>
                  <a:pt x="30238" y="-751"/>
                  <a:pt x="27393" y="1668"/>
                  <a:pt x="25152" y="1668"/>
                </a:cubicBezTo>
                <a:cubicBezTo>
                  <a:pt x="20628" y="1668"/>
                  <a:pt x="15011" y="970"/>
                  <a:pt x="11812" y="4169"/>
                </a:cubicBezTo>
                <a:cubicBezTo>
                  <a:pt x="9760" y="6221"/>
                  <a:pt x="6376" y="1668"/>
                  <a:pt x="3474" y="1668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>
            <a:spLocks noGrp="1"/>
          </p:cNvSpPr>
          <p:nvPr>
            <p:ph type="title"/>
          </p:nvPr>
        </p:nvSpPr>
        <p:spPr>
          <a:xfrm>
            <a:off x="398106" y="1119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ReLU layer</a:t>
            </a:r>
            <a:endParaRPr/>
          </a:p>
        </p:txBody>
      </p:sp>
      <p:sp>
        <p:nvSpPr>
          <p:cNvPr id="126" name="Google Shape;126;p7"/>
          <p:cNvSpPr txBox="1"/>
          <p:nvPr/>
        </p:nvSpPr>
        <p:spPr>
          <a:xfrm>
            <a:off x="482859" y="1437531"/>
            <a:ext cx="1069521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ReLU stands for the rectified linear unit. Once the feature maps are extracted, the next step is to move them to a ReLU layer.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ReLU performs an element-wise operation and sets all the negative pixels to 0. It introduces non-linearity to the network, and the generated output is a rectified feature map. Below is the graph of a ReLU function: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1958" y="3270038"/>
            <a:ext cx="2669975" cy="2885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>
            <a:spLocks noGrp="1"/>
          </p:cNvSpPr>
          <p:nvPr>
            <p:ph type="title"/>
          </p:nvPr>
        </p:nvSpPr>
        <p:spPr>
          <a:xfrm>
            <a:off x="398106" y="1119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ReLU layer</a:t>
            </a:r>
            <a:endParaRPr/>
          </a:p>
        </p:txBody>
      </p:sp>
      <p:sp>
        <p:nvSpPr>
          <p:cNvPr id="133" name="Google Shape;133;p8"/>
          <p:cNvSpPr txBox="1"/>
          <p:nvPr/>
        </p:nvSpPr>
        <p:spPr>
          <a:xfrm>
            <a:off x="398106" y="1193060"/>
            <a:ext cx="609755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original image is scanned with multiple convolutions and ReLU layers for locating the features.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19868" y="2188029"/>
            <a:ext cx="5978375" cy="3941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398106" y="1119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Pooling layer</a:t>
            </a:r>
            <a:endParaRPr/>
          </a:p>
        </p:txBody>
      </p:sp>
      <p:sp>
        <p:nvSpPr>
          <p:cNvPr id="140" name="Google Shape;140;p9"/>
          <p:cNvSpPr txBox="1"/>
          <p:nvPr/>
        </p:nvSpPr>
        <p:spPr>
          <a:xfrm>
            <a:off x="398106" y="1193060"/>
            <a:ext cx="1088260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Pooling is a down-sampling operation that reduces the dimensionality of the feature map. The rectified feature map now goes through a pooling layer to generate a pooled feature map.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8106" y="2018235"/>
            <a:ext cx="7585688" cy="3291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9"/>
          <p:cNvSpPr txBox="1"/>
          <p:nvPr/>
        </p:nvSpPr>
        <p:spPr>
          <a:xfrm>
            <a:off x="398106" y="5197454"/>
            <a:ext cx="1064000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pooling layer uses various filters to identify different parts of the image like edges, corners, body, feathers, eyes, and beak.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398106" y="1119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Pooling layer</a:t>
            </a:r>
            <a:endParaRPr/>
          </a:p>
        </p:txBody>
      </p:sp>
      <p:pic>
        <p:nvPicPr>
          <p:cNvPr id="148" name="Google Shape;14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456" y="1447363"/>
            <a:ext cx="8572500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0"/>
          <p:cNvSpPr txBox="1"/>
          <p:nvPr/>
        </p:nvSpPr>
        <p:spPr>
          <a:xfrm>
            <a:off x="398106" y="4774138"/>
            <a:ext cx="609755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Here’s how the structure of the convolution neural network looks so far: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74433" y="5282873"/>
            <a:ext cx="4480151" cy="1463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DCE8A-1060-4149-70EF-CB000FFA1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Flattening layer : -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01751-B9AB-C735-BCED-747CF295E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* 7 *64 = 3136</a:t>
            </a:r>
          </a:p>
          <a:p>
            <a:r>
              <a:rPr lang="en-US" dirty="0"/>
              <a:t>3136 *1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8162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/>
        </p:nvSpPr>
        <p:spPr>
          <a:xfrm>
            <a:off x="641479" y="378692"/>
            <a:ext cx="9547549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Here’s how exactly CNN recognizes a bird: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pixels from the image are fed to the convolutional layer that performs the convolution operation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results in a convolved map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convolved map is applied to a ReLU function to generate a rectified feature map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image is processed with multiple convolutions and ReLU layers for locating the features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pooling layers with various filters are used to identify specific parts of the image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pooled feature map is flattened and fed to a fully connected layer to get the final output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4773" y="3291859"/>
            <a:ext cx="9925050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632C9C-D0C1-EC57-651F-6575272E9D9D}"/>
              </a:ext>
            </a:extLst>
          </p:cNvPr>
          <p:cNvSpPr txBox="1"/>
          <p:nvPr/>
        </p:nvSpPr>
        <p:spPr>
          <a:xfrm>
            <a:off x="1120877" y="747252"/>
            <a:ext cx="81607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Pipeline of CNN</a:t>
            </a:r>
          </a:p>
          <a:p>
            <a:endParaRPr lang="en-US" sz="240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Image</a:t>
            </a:r>
          </a:p>
          <a:p>
            <a:r>
              <a:rPr lang="en-US" sz="2400" dirty="0"/>
              <a:t>Convolutional</a:t>
            </a:r>
          </a:p>
          <a:p>
            <a:r>
              <a:rPr lang="en-US" sz="2400" dirty="0" err="1"/>
              <a:t>ReLu</a:t>
            </a:r>
            <a:r>
              <a:rPr lang="en-US" sz="2400" dirty="0"/>
              <a:t> Layer</a:t>
            </a:r>
          </a:p>
          <a:p>
            <a:r>
              <a:rPr lang="en-US" sz="2400" dirty="0"/>
              <a:t>Polling Layer</a:t>
            </a:r>
          </a:p>
          <a:p>
            <a:r>
              <a:rPr lang="en-US" sz="2400" dirty="0"/>
              <a:t>Flattening layer</a:t>
            </a:r>
          </a:p>
          <a:p>
            <a:r>
              <a:rPr lang="en-US" sz="2400" dirty="0"/>
              <a:t>Fully connected layers</a:t>
            </a:r>
          </a:p>
          <a:p>
            <a:r>
              <a:rPr lang="en-US" sz="2400" dirty="0"/>
              <a:t>Final predictions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42492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578</Words>
  <Application>Microsoft Office PowerPoint</Application>
  <PresentationFormat>Widescreen</PresentationFormat>
  <Paragraphs>76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Convolutional Neural Network</vt:lpstr>
      <vt:lpstr>Introduction to CNN</vt:lpstr>
      <vt:lpstr>What is Convolutional Neural Network?</vt:lpstr>
      <vt:lpstr>Layers in a Convolutional Neural Network</vt:lpstr>
      <vt:lpstr>Convolution Layer</vt:lpstr>
      <vt:lpstr>ReLU layer</vt:lpstr>
      <vt:lpstr>ReLU layer</vt:lpstr>
      <vt:lpstr>Pooling layer</vt:lpstr>
      <vt:lpstr>Pooling layer</vt:lpstr>
      <vt:lpstr>Flattening layer : -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Kuldeep gupta</dc:creator>
  <cp:lastModifiedBy>Abhishek Singh</cp:lastModifiedBy>
  <cp:revision>5</cp:revision>
  <dcterms:created xsi:type="dcterms:W3CDTF">2022-11-10T05:46:15Z</dcterms:created>
  <dcterms:modified xsi:type="dcterms:W3CDTF">2026-03-05T14:06:19Z</dcterms:modified>
</cp:coreProperties>
</file>